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79" r:id="rId2"/>
    <p:sldId id="280" r:id="rId3"/>
    <p:sldId id="276" r:id="rId4"/>
    <p:sldId id="270" r:id="rId5"/>
    <p:sldId id="260" r:id="rId6"/>
    <p:sldId id="277" r:id="rId7"/>
    <p:sldId id="278" r:id="rId8"/>
    <p:sldId id="281" r:id="rId9"/>
  </p:sldIdLst>
  <p:sldSz cx="9144000" cy="5143500" type="screen16x9"/>
  <p:notesSz cx="6858000" cy="9144000"/>
  <p:embeddedFontLst>
    <p:embeddedFont>
      <p:font typeface="Google Sans" pitchFamily="2" charset="0"/>
      <p:regular r:id="rId11"/>
      <p:bold r:id="rId12"/>
      <p:italic r:id="rId13"/>
      <p:boldItalic r:id="rId14"/>
    </p:embeddedFont>
    <p:embeddedFont>
      <p:font typeface="Google Sans Text" panose="020B050303050204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182181-6935-EE52-8204-4F0FEBE78F58}" name="David Hull" initials="DH" userId="S::davidj.hull@rotman.utoronto.ca::651cf6f1-5ed2-41a4-a224-27b43d6c70b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85F4"/>
    <a:srgbClr val="FF9900"/>
    <a:srgbClr val="33A8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F588D1-301F-48EF-B88C-3041E33B7432}">
  <a:tblStyle styleId="{C0F588D1-301F-48EF-B88C-3041E33B74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85"/>
    <p:restoredTop sz="94650"/>
  </p:normalViewPr>
  <p:slideViewPr>
    <p:cSldViewPr snapToGrid="0">
      <p:cViewPr>
        <p:scale>
          <a:sx n="108" d="100"/>
          <a:sy n="108" d="100"/>
        </p:scale>
        <p:origin x="304" y="10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8/10/relationships/authors" Target="authors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61971129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61971129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E3AFFB8D-0D95-881D-5B3A-6483647D9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8e2e9aa709_0_60:notes">
            <a:extLst>
              <a:ext uri="{FF2B5EF4-FFF2-40B4-BE49-F238E27FC236}">
                <a16:creationId xmlns:a16="http://schemas.microsoft.com/office/drawing/2014/main" id="{C7567342-4C40-1A47-1849-AB5DC51231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1" name="Google Shape;71;g28e2e9aa709_0_60:notes">
            <a:extLst>
              <a:ext uri="{FF2B5EF4-FFF2-40B4-BE49-F238E27FC236}">
                <a16:creationId xmlns:a16="http://schemas.microsoft.com/office/drawing/2014/main" id="{FFCFEF6C-DD8E-3E49-E9C7-7CE8E4DA4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7535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5375A575-F5E9-DB4B-2412-D178F9170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8e2e9aa709_0_60:notes">
            <a:extLst>
              <a:ext uri="{FF2B5EF4-FFF2-40B4-BE49-F238E27FC236}">
                <a16:creationId xmlns:a16="http://schemas.microsoft.com/office/drawing/2014/main" id="{B9254F36-0219-E883-8756-C076FC2019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1" name="Google Shape;71;g28e2e9aa709_0_60:notes">
            <a:extLst>
              <a:ext uri="{FF2B5EF4-FFF2-40B4-BE49-F238E27FC236}">
                <a16:creationId xmlns:a16="http://schemas.microsoft.com/office/drawing/2014/main" id="{EDA851CD-62A7-FD24-CBC6-E434710828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690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fa6b45641d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05" name="Google Shape;205;g1fa6b45641d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126a60816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8" name="Google Shape;88;g26126a60816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A776259E-65C9-AED9-5CB2-37E0F1C8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8e2e9aa709_0_60:notes">
            <a:extLst>
              <a:ext uri="{FF2B5EF4-FFF2-40B4-BE49-F238E27FC236}">
                <a16:creationId xmlns:a16="http://schemas.microsoft.com/office/drawing/2014/main" id="{9B06A266-625C-EE6A-BAF6-B2617E2AE7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1" name="Google Shape;71;g28e2e9aa709_0_60:notes">
            <a:extLst>
              <a:ext uri="{FF2B5EF4-FFF2-40B4-BE49-F238E27FC236}">
                <a16:creationId xmlns:a16="http://schemas.microsoft.com/office/drawing/2014/main" id="{C913205C-AFD8-50FF-1239-4BD615919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72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468967E8-99CA-A1F5-1610-DE971F271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8e2e9aa709_0_60:notes">
            <a:extLst>
              <a:ext uri="{FF2B5EF4-FFF2-40B4-BE49-F238E27FC236}">
                <a16:creationId xmlns:a16="http://schemas.microsoft.com/office/drawing/2014/main" id="{61DF1546-9DA9-2D74-ABFC-FD603FDF0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1" name="Google Shape;71;g28e2e9aa709_0_60:notes">
            <a:extLst>
              <a:ext uri="{FF2B5EF4-FFF2-40B4-BE49-F238E27FC236}">
                <a16:creationId xmlns:a16="http://schemas.microsoft.com/office/drawing/2014/main" id="{02C4D583-AC13-BCA0-DB3E-E7CA05B089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2097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028250" y="758850"/>
            <a:ext cx="7019400" cy="18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latin typeface="Google Sans Text"/>
                <a:ea typeface="Google Sans Text"/>
                <a:cs typeface="Google Sans Text"/>
                <a:sym typeface="Google Sans Text"/>
              </a:rPr>
              <a:t>Table Extraction Proof of Concept</a:t>
            </a:r>
            <a:endParaRPr sz="2600" dirty="0"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89075" y="2876550"/>
            <a:ext cx="8520600" cy="11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000" dirty="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David Hull &amp; Joseph Leonardo</a:t>
            </a:r>
            <a:endParaRPr sz="2000" dirty="0">
              <a:solidFill>
                <a:schemeClr val="dk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RBC</a:t>
            </a:r>
            <a:endParaRPr sz="2000" dirty="0">
              <a:solidFill>
                <a:schemeClr val="dk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CA" sz="2000" dirty="0">
              <a:solidFill>
                <a:schemeClr val="dk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Single Table Weekly August 16</a:t>
            </a:r>
            <a:r>
              <a:rPr lang="en" sz="1500" baseline="30000" dirty="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th</a:t>
            </a:r>
            <a:r>
              <a:rPr lang="en" sz="1500" dirty="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 2026</a:t>
            </a:r>
            <a:endParaRPr sz="1500" dirty="0">
              <a:solidFill>
                <a:schemeClr val="dk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FEAF3AC0-A0EC-8EFB-B7FF-F9D13BA7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B2B3373C-E0E6-5989-7876-E914A53318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4101" y="1657675"/>
            <a:ext cx="1195350" cy="783900"/>
          </a:xfrm>
          <a:prstGeom prst="rect">
            <a:avLst/>
          </a:prstGeom>
          <a:solidFill>
            <a:srgbClr val="F3F3F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00" dirty="0">
                <a:solidFill>
                  <a:schemeClr val="lt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Source Documents IE. PDF, Excel</a:t>
            </a:r>
            <a:endParaRPr sz="1200" dirty="0">
              <a:solidFill>
                <a:schemeClr val="lt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087E8E73-97AD-7920-BD24-D16FE612A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  <a:t>What are we trying to do?</a:t>
            </a:r>
            <a:endParaRPr dirty="0"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A87951E8-BB4B-3896-6EDD-1FEDC32C79D6}"/>
              </a:ext>
            </a:extLst>
          </p:cNvPr>
          <p:cNvSpPr/>
          <p:nvPr/>
        </p:nvSpPr>
        <p:spPr>
          <a:xfrm>
            <a:off x="2076701" y="1703875"/>
            <a:ext cx="1195350" cy="6915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latin typeface="Google Sans Text"/>
                <a:ea typeface="Google Sans Text"/>
                <a:cs typeface="Google Sans Text"/>
                <a:sym typeface="Google Sans Text"/>
              </a:rPr>
              <a:t>Extraction pipeline</a:t>
            </a:r>
            <a:endParaRPr sz="1300" dirty="0"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graphicFrame>
        <p:nvGraphicFramePr>
          <p:cNvPr id="76" name="Google Shape;76;p16">
            <a:extLst>
              <a:ext uri="{FF2B5EF4-FFF2-40B4-BE49-F238E27FC236}">
                <a16:creationId xmlns:a16="http://schemas.microsoft.com/office/drawing/2014/main" id="{AB17EFCA-C0DF-31A6-0A57-B4E136BD6ECB}"/>
              </a:ext>
            </a:extLst>
          </p:cNvPr>
          <p:cNvGraphicFramePr/>
          <p:nvPr/>
        </p:nvGraphicFramePr>
        <p:xfrm>
          <a:off x="3665344" y="1653450"/>
          <a:ext cx="2709614" cy="792350"/>
        </p:xfrm>
        <a:graphic>
          <a:graphicData uri="http://schemas.openxmlformats.org/drawingml/2006/table">
            <a:tbl>
              <a:tblPr>
                <a:noFill/>
                <a:tableStyleId>{C0F588D1-301F-48EF-B88C-3041E33B7432}</a:tableStyleId>
              </a:tblPr>
              <a:tblGrid>
                <a:gridCol w="756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323">
                  <a:extLst>
                    <a:ext uri="{9D8B030D-6E8A-4147-A177-3AD203B41FA5}">
                      <a16:colId xmlns:a16="http://schemas.microsoft.com/office/drawing/2014/main" val="824534268"/>
                    </a:ext>
                  </a:extLst>
                </a:gridCol>
              </a:tblGrid>
              <a:tr h="127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sng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Column A</a:t>
                      </a:r>
                      <a:endParaRPr sz="800" b="1" u="sng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sng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Column B</a:t>
                      </a:r>
                      <a:endParaRPr sz="800" b="1" u="sng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1" u="sng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Column C</a:t>
                      </a:r>
                      <a:endParaRPr sz="800" b="1" u="sng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77" name="Google Shape;77;p16">
            <a:extLst>
              <a:ext uri="{FF2B5EF4-FFF2-40B4-BE49-F238E27FC236}">
                <a16:creationId xmlns:a16="http://schemas.microsoft.com/office/drawing/2014/main" id="{8611E1D9-AA7D-5EB9-B021-00941B230756}"/>
              </a:ext>
            </a:extLst>
          </p:cNvPr>
          <p:cNvCxnSpPr>
            <a:cxnSpLocks/>
            <a:stCxn id="73" idx="3"/>
            <a:endCxn id="75" idx="1"/>
          </p:cNvCxnSpPr>
          <p:nvPr/>
        </p:nvCxnSpPr>
        <p:spPr>
          <a:xfrm>
            <a:off x="1659451" y="2049625"/>
            <a:ext cx="4172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6">
            <a:extLst>
              <a:ext uri="{FF2B5EF4-FFF2-40B4-BE49-F238E27FC236}">
                <a16:creationId xmlns:a16="http://schemas.microsoft.com/office/drawing/2014/main" id="{89228685-F411-5591-6196-735A2237F6D4}"/>
              </a:ext>
            </a:extLst>
          </p:cNvPr>
          <p:cNvCxnSpPr>
            <a:cxnSpLocks/>
            <a:stCxn id="75" idx="3"/>
            <a:endCxn id="76" idx="1"/>
          </p:cNvCxnSpPr>
          <p:nvPr/>
        </p:nvCxnSpPr>
        <p:spPr>
          <a:xfrm>
            <a:off x="3272051" y="2049625"/>
            <a:ext cx="39329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4D2BA7B6-DD8D-E81A-6727-C6514CCE29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70840" y="1247484"/>
            <a:ext cx="1670400" cy="297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CA" sz="1020" dirty="0">
                <a:latin typeface="Google Sans Text"/>
                <a:ea typeface="Google Sans Text"/>
                <a:cs typeface="Google Sans Text"/>
                <a:sym typeface="Google Sans Text"/>
              </a:rPr>
              <a:t>Structured Data</a:t>
            </a:r>
            <a:endParaRPr sz="1020" dirty="0"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5A49CE0F-03CC-925C-9C07-41CC1C1EBF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3" name="Google Shape;75;p16">
            <a:extLst>
              <a:ext uri="{FF2B5EF4-FFF2-40B4-BE49-F238E27FC236}">
                <a16:creationId xmlns:a16="http://schemas.microsoft.com/office/drawing/2014/main" id="{8BBEA125-7DB0-845A-672F-1B8C2AA83220}"/>
              </a:ext>
            </a:extLst>
          </p:cNvPr>
          <p:cNvSpPr/>
          <p:nvPr/>
        </p:nvSpPr>
        <p:spPr>
          <a:xfrm>
            <a:off x="6762167" y="1703875"/>
            <a:ext cx="1195350" cy="6915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latin typeface="Google Sans Text"/>
                <a:ea typeface="Google Sans Text"/>
                <a:cs typeface="Google Sans Text"/>
                <a:sym typeface="Google Sans Text"/>
              </a:rPr>
              <a:t>Single Table Database</a:t>
            </a:r>
            <a:endParaRPr sz="1300" dirty="0"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cxnSp>
        <p:nvCxnSpPr>
          <p:cNvPr id="34" name="Google Shape;78;p16">
            <a:extLst>
              <a:ext uri="{FF2B5EF4-FFF2-40B4-BE49-F238E27FC236}">
                <a16:creationId xmlns:a16="http://schemas.microsoft.com/office/drawing/2014/main" id="{873E7DEB-4477-FBFD-AE62-79F4F8B57E52}"/>
              </a:ext>
            </a:extLst>
          </p:cNvPr>
          <p:cNvCxnSpPr>
            <a:cxnSpLocks/>
          </p:cNvCxnSpPr>
          <p:nvPr/>
        </p:nvCxnSpPr>
        <p:spPr>
          <a:xfrm>
            <a:off x="6374958" y="2065913"/>
            <a:ext cx="39329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45827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B8EC9808-FF7D-9E91-4355-0D8E5BEBF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F806C10B-B221-2E3A-3134-A23AD8FF26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4101" y="1657675"/>
            <a:ext cx="1195350" cy="783900"/>
          </a:xfrm>
          <a:prstGeom prst="rect">
            <a:avLst/>
          </a:prstGeom>
          <a:solidFill>
            <a:srgbClr val="F3F3F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00" dirty="0">
                <a:solidFill>
                  <a:schemeClr val="lt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Source Documents IE. PDF, Excel</a:t>
            </a:r>
            <a:endParaRPr sz="1200" dirty="0">
              <a:solidFill>
                <a:schemeClr val="lt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94EC3295-6E83-FBDE-3DD3-C1AAC00345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  <a:t>What are we trying to do?</a:t>
            </a:r>
            <a:endParaRPr dirty="0"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0C5A32D9-585E-BAD6-1C71-7B762C09E53E}"/>
              </a:ext>
            </a:extLst>
          </p:cNvPr>
          <p:cNvSpPr/>
          <p:nvPr/>
        </p:nvSpPr>
        <p:spPr>
          <a:xfrm>
            <a:off x="2076701" y="1703875"/>
            <a:ext cx="1195350" cy="6915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latin typeface="Google Sans Text"/>
                <a:ea typeface="Google Sans Text"/>
                <a:cs typeface="Google Sans Text"/>
                <a:sym typeface="Google Sans Text"/>
              </a:rPr>
              <a:t>Extraction pipeline</a:t>
            </a:r>
            <a:endParaRPr sz="1300" dirty="0"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graphicFrame>
        <p:nvGraphicFramePr>
          <p:cNvPr id="76" name="Google Shape;76;p16">
            <a:extLst>
              <a:ext uri="{FF2B5EF4-FFF2-40B4-BE49-F238E27FC236}">
                <a16:creationId xmlns:a16="http://schemas.microsoft.com/office/drawing/2014/main" id="{62BD855E-BE2F-2BC0-3F40-6D6092C655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427261"/>
              </p:ext>
            </p:extLst>
          </p:nvPr>
        </p:nvGraphicFramePr>
        <p:xfrm>
          <a:off x="3665344" y="1653450"/>
          <a:ext cx="2709614" cy="792350"/>
        </p:xfrm>
        <a:graphic>
          <a:graphicData uri="http://schemas.openxmlformats.org/drawingml/2006/table">
            <a:tbl>
              <a:tblPr>
                <a:noFill/>
                <a:tableStyleId>{C0F588D1-301F-48EF-B88C-3041E33B7432}</a:tableStyleId>
              </a:tblPr>
              <a:tblGrid>
                <a:gridCol w="756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323">
                  <a:extLst>
                    <a:ext uri="{9D8B030D-6E8A-4147-A177-3AD203B41FA5}">
                      <a16:colId xmlns:a16="http://schemas.microsoft.com/office/drawing/2014/main" val="824534268"/>
                    </a:ext>
                  </a:extLst>
                </a:gridCol>
              </a:tblGrid>
              <a:tr h="127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sng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Column A</a:t>
                      </a:r>
                      <a:endParaRPr sz="800" b="1" u="sng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u="sng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Column B</a:t>
                      </a:r>
                      <a:endParaRPr sz="800" b="1" u="sng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b="1" u="sng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Column C</a:t>
                      </a:r>
                      <a:endParaRPr sz="800" b="1" u="sng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800" i="1" dirty="0">
                          <a:solidFill>
                            <a:schemeClr val="dk1"/>
                          </a:solidFill>
                          <a:latin typeface="Google Sans Text"/>
                          <a:ea typeface="Google Sans Text"/>
                          <a:cs typeface="Google Sans Text"/>
                          <a:sym typeface="Google Sans Text"/>
                        </a:rPr>
                        <a:t>…</a:t>
                      </a:r>
                      <a:endParaRPr sz="800" i="1" dirty="0">
                        <a:solidFill>
                          <a:schemeClr val="dk1"/>
                        </a:solidFill>
                        <a:latin typeface="Google Sans Text"/>
                        <a:ea typeface="Google Sans Text"/>
                        <a:cs typeface="Google Sans Text"/>
                        <a:sym typeface="Google Sans Text"/>
                      </a:endParaRPr>
                    </a:p>
                  </a:txBody>
                  <a:tcPr marL="91425" marR="91425" marT="18275" marB="18275"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77" name="Google Shape;77;p16">
            <a:extLst>
              <a:ext uri="{FF2B5EF4-FFF2-40B4-BE49-F238E27FC236}">
                <a16:creationId xmlns:a16="http://schemas.microsoft.com/office/drawing/2014/main" id="{BD8E36D7-7AAB-1CEA-A5C4-E24F1E145AD8}"/>
              </a:ext>
            </a:extLst>
          </p:cNvPr>
          <p:cNvCxnSpPr>
            <a:cxnSpLocks/>
            <a:stCxn id="73" idx="3"/>
            <a:endCxn id="75" idx="1"/>
          </p:cNvCxnSpPr>
          <p:nvPr/>
        </p:nvCxnSpPr>
        <p:spPr>
          <a:xfrm>
            <a:off x="1659451" y="2049625"/>
            <a:ext cx="4172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6">
            <a:extLst>
              <a:ext uri="{FF2B5EF4-FFF2-40B4-BE49-F238E27FC236}">
                <a16:creationId xmlns:a16="http://schemas.microsoft.com/office/drawing/2014/main" id="{E483C4C4-A10F-ED54-BE28-4813DF76EDC5}"/>
              </a:ext>
            </a:extLst>
          </p:cNvPr>
          <p:cNvCxnSpPr>
            <a:cxnSpLocks/>
            <a:stCxn id="75" idx="3"/>
            <a:endCxn id="76" idx="1"/>
          </p:cNvCxnSpPr>
          <p:nvPr/>
        </p:nvCxnSpPr>
        <p:spPr>
          <a:xfrm>
            <a:off x="3272051" y="2049625"/>
            <a:ext cx="39329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A9DF50A0-63EC-0686-128A-30768ABD47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70840" y="1247484"/>
            <a:ext cx="1670400" cy="297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CA" sz="1020" dirty="0">
                <a:latin typeface="Google Sans Text"/>
                <a:ea typeface="Google Sans Text"/>
                <a:cs typeface="Google Sans Text"/>
                <a:sym typeface="Google Sans Text"/>
              </a:rPr>
              <a:t>Structured Data</a:t>
            </a:r>
            <a:endParaRPr sz="1020" dirty="0"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01CC8484-F972-5AC0-09FB-C26362CBAE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6300" y="3147950"/>
            <a:ext cx="3496200" cy="924514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SzPts val="990"/>
            </a:pPr>
            <a:r>
              <a:rPr lang="en-CA" sz="1600" i="1" dirty="0">
                <a:solidFill>
                  <a:schemeClr val="accent2">
                    <a:lumMod val="10000"/>
                  </a:schemeClr>
                </a:solidFill>
              </a:rPr>
              <a:t>I focused on the extraction pipeline that transforms source documents into structured data.</a:t>
            </a:r>
            <a:endParaRPr sz="1600" i="1" dirty="0">
              <a:solidFill>
                <a:schemeClr val="accent2">
                  <a:lumMod val="10000"/>
                </a:schemeClr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6A0BD63B-B702-C8F5-2F5E-40E254401E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33" name="Google Shape;75;p16">
            <a:extLst>
              <a:ext uri="{FF2B5EF4-FFF2-40B4-BE49-F238E27FC236}">
                <a16:creationId xmlns:a16="http://schemas.microsoft.com/office/drawing/2014/main" id="{058747F2-C155-EFEB-D912-A2B5241979B1}"/>
              </a:ext>
            </a:extLst>
          </p:cNvPr>
          <p:cNvSpPr/>
          <p:nvPr/>
        </p:nvSpPr>
        <p:spPr>
          <a:xfrm>
            <a:off x="6762167" y="1703875"/>
            <a:ext cx="1195350" cy="6915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latin typeface="Google Sans Text"/>
                <a:ea typeface="Google Sans Text"/>
                <a:cs typeface="Google Sans Text"/>
                <a:sym typeface="Google Sans Text"/>
              </a:rPr>
              <a:t>Single Table Database</a:t>
            </a:r>
            <a:endParaRPr sz="1300" dirty="0"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cxnSp>
        <p:nvCxnSpPr>
          <p:cNvPr id="34" name="Google Shape;78;p16">
            <a:extLst>
              <a:ext uri="{FF2B5EF4-FFF2-40B4-BE49-F238E27FC236}">
                <a16:creationId xmlns:a16="http://schemas.microsoft.com/office/drawing/2014/main" id="{A06FDBB2-A791-EC80-4110-16AD4BF18772}"/>
              </a:ext>
            </a:extLst>
          </p:cNvPr>
          <p:cNvCxnSpPr>
            <a:cxnSpLocks/>
          </p:cNvCxnSpPr>
          <p:nvPr/>
        </p:nvCxnSpPr>
        <p:spPr>
          <a:xfrm>
            <a:off x="6374958" y="2065913"/>
            <a:ext cx="39329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26915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  <a:t>What makes extraction hard?</a:t>
            </a:r>
            <a:endParaRPr dirty="0"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241" name="Google Shape;24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 dirty="0"/>
          </a:p>
        </p:txBody>
      </p:sp>
      <p:cxnSp>
        <p:nvCxnSpPr>
          <p:cNvPr id="2" name="Google Shape;175;p25">
            <a:extLst>
              <a:ext uri="{FF2B5EF4-FFF2-40B4-BE49-F238E27FC236}">
                <a16:creationId xmlns:a16="http://schemas.microsoft.com/office/drawing/2014/main" id="{CA067845-363E-AB60-7724-72BA452FE31C}"/>
              </a:ext>
            </a:extLst>
          </p:cNvPr>
          <p:cNvCxnSpPr>
            <a:cxnSpLocks/>
          </p:cNvCxnSpPr>
          <p:nvPr/>
        </p:nvCxnSpPr>
        <p:spPr>
          <a:xfrm flipH="1" flipV="1">
            <a:off x="1344312" y="1614310"/>
            <a:ext cx="12419" cy="24300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" name="Google Shape;176;p25">
            <a:extLst>
              <a:ext uri="{FF2B5EF4-FFF2-40B4-BE49-F238E27FC236}">
                <a16:creationId xmlns:a16="http://schemas.microsoft.com/office/drawing/2014/main" id="{71FA8A42-AA53-9265-1CC9-1556404A11BB}"/>
              </a:ext>
            </a:extLst>
          </p:cNvPr>
          <p:cNvCxnSpPr>
            <a:cxnSpLocks/>
          </p:cNvCxnSpPr>
          <p:nvPr/>
        </p:nvCxnSpPr>
        <p:spPr>
          <a:xfrm>
            <a:off x="1356732" y="4044363"/>
            <a:ext cx="291046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177;p25">
            <a:extLst>
              <a:ext uri="{FF2B5EF4-FFF2-40B4-BE49-F238E27FC236}">
                <a16:creationId xmlns:a16="http://schemas.microsoft.com/office/drawing/2014/main" id="{32398606-6DD3-947C-28F6-CD7631A7AEAE}"/>
              </a:ext>
            </a:extLst>
          </p:cNvPr>
          <p:cNvSpPr txBox="1">
            <a:spLocks/>
          </p:cNvSpPr>
          <p:nvPr/>
        </p:nvSpPr>
        <p:spPr>
          <a:xfrm>
            <a:off x="3256026" y="4104120"/>
            <a:ext cx="1081784" cy="38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CA" sz="800" dirty="0">
                <a:solidFill>
                  <a:schemeClr val="tx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Less</a:t>
            </a:r>
          </a:p>
        </p:txBody>
      </p:sp>
      <p:sp>
        <p:nvSpPr>
          <p:cNvPr id="5" name="Google Shape;178;p25">
            <a:extLst>
              <a:ext uri="{FF2B5EF4-FFF2-40B4-BE49-F238E27FC236}">
                <a16:creationId xmlns:a16="http://schemas.microsoft.com/office/drawing/2014/main" id="{A5F4C62C-3BAC-F410-6EF7-E096273D37E9}"/>
              </a:ext>
            </a:extLst>
          </p:cNvPr>
          <p:cNvSpPr txBox="1">
            <a:spLocks/>
          </p:cNvSpPr>
          <p:nvPr/>
        </p:nvSpPr>
        <p:spPr>
          <a:xfrm>
            <a:off x="2333807" y="4102958"/>
            <a:ext cx="928551" cy="37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CA" sz="1400" dirty="0">
                <a:latin typeface="Google Sans Text"/>
                <a:ea typeface="Google Sans Text"/>
                <a:cs typeface="Google Sans Text"/>
                <a:sym typeface="Google Sans Text"/>
              </a:rPr>
              <a:t>Structure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D139ED-8EC1-F62D-70C2-E77E2AE5CAE2}"/>
              </a:ext>
            </a:extLst>
          </p:cNvPr>
          <p:cNvSpPr/>
          <p:nvPr/>
        </p:nvSpPr>
        <p:spPr>
          <a:xfrm>
            <a:off x="1697643" y="3575437"/>
            <a:ext cx="163894" cy="156444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285F4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C38CA2-961C-BA66-B33E-9BACAB1FD6F4}"/>
              </a:ext>
            </a:extLst>
          </p:cNvPr>
          <p:cNvSpPr/>
          <p:nvPr/>
        </p:nvSpPr>
        <p:spPr>
          <a:xfrm>
            <a:off x="1899508" y="3273225"/>
            <a:ext cx="163894" cy="156444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285F4"/>
              </a:solidFill>
            </a:endParaRPr>
          </a:p>
        </p:txBody>
      </p:sp>
      <p:sp>
        <p:nvSpPr>
          <p:cNvPr id="14" name="Google Shape;90;p17">
            <a:extLst>
              <a:ext uri="{FF2B5EF4-FFF2-40B4-BE49-F238E27FC236}">
                <a16:creationId xmlns:a16="http://schemas.microsoft.com/office/drawing/2014/main" id="{9ACC18D9-8E6B-A9D8-096F-0A8EA1102221}"/>
              </a:ext>
            </a:extLst>
          </p:cNvPr>
          <p:cNvSpPr txBox="1">
            <a:spLocks/>
          </p:cNvSpPr>
          <p:nvPr/>
        </p:nvSpPr>
        <p:spPr>
          <a:xfrm>
            <a:off x="4571999" y="2185118"/>
            <a:ext cx="3339360" cy="99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891"/>
            </a:pPr>
            <a:r>
              <a:rPr lang="en-CA" sz="1400" b="1" u="sng" dirty="0">
                <a:latin typeface="Google Sans Text"/>
                <a:ea typeface="Google Sans Text"/>
                <a:cs typeface="Google Sans Text"/>
                <a:sym typeface="Google Sans Text"/>
              </a:rPr>
              <a:t>Intuition 1.</a:t>
            </a:r>
          </a:p>
          <a:p>
            <a:pPr>
              <a:buSzPts val="891"/>
            </a:pPr>
            <a:r>
              <a:rPr lang="en-CA" sz="1400" b="1" u="sng" dirty="0">
                <a:latin typeface="Google Sans Text"/>
                <a:ea typeface="Google Sans Text"/>
                <a:cs typeface="Google Sans Text"/>
                <a:sym typeface="Google Sans Text"/>
              </a:rPr>
              <a:t> </a:t>
            </a:r>
          </a:p>
          <a:p>
            <a:pPr>
              <a:buSzPts val="891"/>
            </a:pPr>
            <a:r>
              <a:rPr lang="en-CA" sz="1400" dirty="0">
                <a:latin typeface="Google Sans Text"/>
                <a:ea typeface="Google Sans Text"/>
                <a:cs typeface="Google Sans Text"/>
                <a:sym typeface="Google Sans Text"/>
              </a:rPr>
              <a:t>The more structure a source document has already, the easier it is to extract reliably because </a:t>
            </a:r>
            <a:r>
              <a:rPr lang="en" sz="1400" dirty="0">
                <a:solidFill>
                  <a:srgbClr val="A4C2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the less our system has to infer</a:t>
            </a:r>
            <a:endParaRPr lang="en-CA" sz="1400" dirty="0"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1B463E6-24CA-39F0-2DBA-368079F3D6B2}"/>
              </a:ext>
            </a:extLst>
          </p:cNvPr>
          <p:cNvSpPr/>
          <p:nvPr/>
        </p:nvSpPr>
        <p:spPr>
          <a:xfrm>
            <a:off x="2157008" y="2991012"/>
            <a:ext cx="163894" cy="156444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285F4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712F96D-2619-7761-5992-E92D94128F55}"/>
              </a:ext>
            </a:extLst>
          </p:cNvPr>
          <p:cNvSpPr/>
          <p:nvPr/>
        </p:nvSpPr>
        <p:spPr>
          <a:xfrm>
            <a:off x="2882418" y="2243028"/>
            <a:ext cx="163894" cy="156444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285F4"/>
              </a:solidFill>
            </a:endParaRPr>
          </a:p>
        </p:txBody>
      </p:sp>
      <p:sp>
        <p:nvSpPr>
          <p:cNvPr id="17" name="Google Shape;177;p25">
            <a:extLst>
              <a:ext uri="{FF2B5EF4-FFF2-40B4-BE49-F238E27FC236}">
                <a16:creationId xmlns:a16="http://schemas.microsoft.com/office/drawing/2014/main" id="{C5CE4EAC-93D9-8367-CFF4-6C0B890C25AD}"/>
              </a:ext>
            </a:extLst>
          </p:cNvPr>
          <p:cNvSpPr txBox="1">
            <a:spLocks/>
          </p:cNvSpPr>
          <p:nvPr/>
        </p:nvSpPr>
        <p:spPr>
          <a:xfrm>
            <a:off x="2030482" y="3233010"/>
            <a:ext cx="944540" cy="23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1000" dirty="0">
                <a:latin typeface="Google Sans Text"/>
                <a:ea typeface="Google Sans Text"/>
                <a:cs typeface="Google Sans Text"/>
                <a:sym typeface="Google Sans Text"/>
              </a:rPr>
              <a:t>Excel</a:t>
            </a:r>
          </a:p>
        </p:txBody>
      </p:sp>
      <p:sp>
        <p:nvSpPr>
          <p:cNvPr id="18" name="Google Shape;177;p25">
            <a:extLst>
              <a:ext uri="{FF2B5EF4-FFF2-40B4-BE49-F238E27FC236}">
                <a16:creationId xmlns:a16="http://schemas.microsoft.com/office/drawing/2014/main" id="{C4A9AEBC-A2E1-1B1C-6AAF-A9BF93942D9E}"/>
              </a:ext>
            </a:extLst>
          </p:cNvPr>
          <p:cNvSpPr txBox="1">
            <a:spLocks/>
          </p:cNvSpPr>
          <p:nvPr/>
        </p:nvSpPr>
        <p:spPr>
          <a:xfrm>
            <a:off x="1861537" y="3531625"/>
            <a:ext cx="944540" cy="23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1000" dirty="0">
                <a:latin typeface="Google Sans Text"/>
                <a:ea typeface="Google Sans Text"/>
                <a:cs typeface="Google Sans Text"/>
                <a:sym typeface="Google Sans Text"/>
              </a:rPr>
              <a:t>Database</a:t>
            </a:r>
          </a:p>
        </p:txBody>
      </p:sp>
      <p:sp>
        <p:nvSpPr>
          <p:cNvPr id="19" name="Google Shape;177;p25">
            <a:extLst>
              <a:ext uri="{FF2B5EF4-FFF2-40B4-BE49-F238E27FC236}">
                <a16:creationId xmlns:a16="http://schemas.microsoft.com/office/drawing/2014/main" id="{AE77FE10-7D29-71AA-D3D1-0B59E885BD3B}"/>
              </a:ext>
            </a:extLst>
          </p:cNvPr>
          <p:cNvSpPr txBox="1">
            <a:spLocks/>
          </p:cNvSpPr>
          <p:nvPr/>
        </p:nvSpPr>
        <p:spPr>
          <a:xfrm>
            <a:off x="1257983" y="4104120"/>
            <a:ext cx="1171596" cy="38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800" dirty="0">
                <a:solidFill>
                  <a:schemeClr val="tx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More</a:t>
            </a:r>
          </a:p>
        </p:txBody>
      </p:sp>
      <p:sp>
        <p:nvSpPr>
          <p:cNvPr id="20" name="Google Shape;177;p25">
            <a:extLst>
              <a:ext uri="{FF2B5EF4-FFF2-40B4-BE49-F238E27FC236}">
                <a16:creationId xmlns:a16="http://schemas.microsoft.com/office/drawing/2014/main" id="{F98814B8-E5DD-F51C-9821-5D9E2C941068}"/>
              </a:ext>
            </a:extLst>
          </p:cNvPr>
          <p:cNvSpPr txBox="1">
            <a:spLocks/>
          </p:cNvSpPr>
          <p:nvPr/>
        </p:nvSpPr>
        <p:spPr>
          <a:xfrm>
            <a:off x="2282841" y="2965460"/>
            <a:ext cx="1354384" cy="236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1000" dirty="0">
                <a:latin typeface="Google Sans Text"/>
                <a:ea typeface="Google Sans Text"/>
                <a:cs typeface="Google Sans Text"/>
                <a:sym typeface="Google Sans Text"/>
              </a:rPr>
              <a:t>PDF w/ Semantic Tags</a:t>
            </a:r>
          </a:p>
        </p:txBody>
      </p:sp>
      <p:sp>
        <p:nvSpPr>
          <p:cNvPr id="21" name="Google Shape;177;p25">
            <a:extLst>
              <a:ext uri="{FF2B5EF4-FFF2-40B4-BE49-F238E27FC236}">
                <a16:creationId xmlns:a16="http://schemas.microsoft.com/office/drawing/2014/main" id="{F5A67C8F-476D-2FE6-3019-93A20D3FCC5F}"/>
              </a:ext>
            </a:extLst>
          </p:cNvPr>
          <p:cNvSpPr txBox="1">
            <a:spLocks/>
          </p:cNvSpPr>
          <p:nvPr/>
        </p:nvSpPr>
        <p:spPr>
          <a:xfrm>
            <a:off x="3024522" y="2202824"/>
            <a:ext cx="1354384" cy="236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1000" dirty="0">
                <a:latin typeface="Google Sans Text"/>
                <a:ea typeface="Google Sans Text"/>
                <a:cs typeface="Google Sans Text"/>
                <a:sym typeface="Google Sans Text"/>
              </a:rPr>
              <a:t>PDF w/ Text only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D9AE72C-3756-6F8D-CB52-B51E85A34E6F}"/>
              </a:ext>
            </a:extLst>
          </p:cNvPr>
          <p:cNvSpPr/>
          <p:nvPr/>
        </p:nvSpPr>
        <p:spPr>
          <a:xfrm>
            <a:off x="3468170" y="1580686"/>
            <a:ext cx="163894" cy="156444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285F4"/>
              </a:solidFill>
            </a:endParaRPr>
          </a:p>
        </p:txBody>
      </p:sp>
      <p:sp>
        <p:nvSpPr>
          <p:cNvPr id="23" name="Google Shape;177;p25">
            <a:extLst>
              <a:ext uri="{FF2B5EF4-FFF2-40B4-BE49-F238E27FC236}">
                <a16:creationId xmlns:a16="http://schemas.microsoft.com/office/drawing/2014/main" id="{BAF56AA7-C6D2-617D-13C2-17B5FE7E9498}"/>
              </a:ext>
            </a:extLst>
          </p:cNvPr>
          <p:cNvSpPr txBox="1">
            <a:spLocks/>
          </p:cNvSpPr>
          <p:nvPr/>
        </p:nvSpPr>
        <p:spPr>
          <a:xfrm>
            <a:off x="2340768" y="1547383"/>
            <a:ext cx="1128472" cy="236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CA" sz="1000" dirty="0">
                <a:latin typeface="Google Sans Text"/>
                <a:ea typeface="Google Sans Text"/>
                <a:cs typeface="Google Sans Text"/>
                <a:sym typeface="Google Sans Text"/>
              </a:rPr>
              <a:t>Scanned PDF</a:t>
            </a:r>
          </a:p>
        </p:txBody>
      </p:sp>
      <p:sp>
        <p:nvSpPr>
          <p:cNvPr id="25" name="Google Shape;178;p25">
            <a:extLst>
              <a:ext uri="{FF2B5EF4-FFF2-40B4-BE49-F238E27FC236}">
                <a16:creationId xmlns:a16="http://schemas.microsoft.com/office/drawing/2014/main" id="{1F30DBEA-8694-5E63-FA25-B8BF716F78CE}"/>
              </a:ext>
            </a:extLst>
          </p:cNvPr>
          <p:cNvSpPr txBox="1">
            <a:spLocks/>
          </p:cNvSpPr>
          <p:nvPr/>
        </p:nvSpPr>
        <p:spPr>
          <a:xfrm rot="16200000">
            <a:off x="669070" y="2639592"/>
            <a:ext cx="928551" cy="37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CA" sz="1400" dirty="0">
                <a:latin typeface="Google Sans Text"/>
                <a:ea typeface="Google Sans Text"/>
                <a:cs typeface="Google Sans Text"/>
                <a:sym typeface="Google Sans Text"/>
              </a:rPr>
              <a:t>Solving</a:t>
            </a:r>
          </a:p>
        </p:txBody>
      </p:sp>
      <p:sp>
        <p:nvSpPr>
          <p:cNvPr id="26" name="Google Shape;177;p25">
            <a:extLst>
              <a:ext uri="{FF2B5EF4-FFF2-40B4-BE49-F238E27FC236}">
                <a16:creationId xmlns:a16="http://schemas.microsoft.com/office/drawing/2014/main" id="{DF7BED63-D41F-A73B-A89C-57D25F1A2676}"/>
              </a:ext>
            </a:extLst>
          </p:cNvPr>
          <p:cNvSpPr txBox="1">
            <a:spLocks/>
          </p:cNvSpPr>
          <p:nvPr/>
        </p:nvSpPr>
        <p:spPr>
          <a:xfrm rot="16200000">
            <a:off x="589015" y="1916877"/>
            <a:ext cx="1061518" cy="38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CA" sz="800" dirty="0">
                <a:solidFill>
                  <a:schemeClr val="tx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Hard</a:t>
            </a:r>
          </a:p>
        </p:txBody>
      </p:sp>
      <p:sp>
        <p:nvSpPr>
          <p:cNvPr id="27" name="Google Shape;177;p25">
            <a:extLst>
              <a:ext uri="{FF2B5EF4-FFF2-40B4-BE49-F238E27FC236}">
                <a16:creationId xmlns:a16="http://schemas.microsoft.com/office/drawing/2014/main" id="{326654B1-7F6B-643A-E6C0-2F4F5B41DA5D}"/>
              </a:ext>
            </a:extLst>
          </p:cNvPr>
          <p:cNvSpPr txBox="1">
            <a:spLocks/>
          </p:cNvSpPr>
          <p:nvPr/>
        </p:nvSpPr>
        <p:spPr>
          <a:xfrm rot="16200000">
            <a:off x="582233" y="4072131"/>
            <a:ext cx="1061518" cy="38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CA" sz="800" dirty="0">
                <a:solidFill>
                  <a:schemeClr val="tx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Easy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579631" y="704422"/>
            <a:ext cx="6495000" cy="756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400" b="1" u="sng" dirty="0">
                <a:latin typeface="Google Sans Text"/>
                <a:ea typeface="Google Sans Text"/>
                <a:cs typeface="Google Sans Text"/>
                <a:sym typeface="Google Sans Text"/>
              </a:rPr>
              <a:t>Intuition 2. </a:t>
            </a:r>
            <a:endParaRPr sz="1400" b="1" u="sng" dirty="0"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lvl="0">
              <a:buSzPts val="891"/>
            </a:pPr>
            <a:br>
              <a:rPr lang="en-CA" sz="1400" dirty="0"/>
            </a:br>
            <a:r>
              <a:rPr lang="en-CA" sz="1400" dirty="0"/>
              <a:t>A reliable data pipeline must be deterministic: </a:t>
            </a:r>
            <a:r>
              <a:rPr lang="en" sz="1400" dirty="0">
                <a:solidFill>
                  <a:srgbClr val="A4C2F4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same input = same output</a:t>
            </a:r>
            <a:endParaRPr sz="1400" dirty="0">
              <a:solidFill>
                <a:srgbClr val="0070C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91" name="Google Shape;9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5" name="Google Shape;67;p15">
            <a:extLst>
              <a:ext uri="{FF2B5EF4-FFF2-40B4-BE49-F238E27FC236}">
                <a16:creationId xmlns:a16="http://schemas.microsoft.com/office/drawing/2014/main" id="{FC6ADC1E-C7F5-3333-DAE3-734C5A168C25}"/>
              </a:ext>
            </a:extLst>
          </p:cNvPr>
          <p:cNvSpPr txBox="1"/>
          <p:nvPr/>
        </p:nvSpPr>
        <p:spPr>
          <a:xfrm>
            <a:off x="579631" y="1635912"/>
            <a:ext cx="5897400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891"/>
            </a:pPr>
            <a:r>
              <a:rPr lang="en-CA" b="1" u="sng" dirty="0">
                <a:solidFill>
                  <a:schemeClr val="tx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Why should we want determinism?</a:t>
            </a:r>
          </a:p>
          <a:p>
            <a:pPr lvl="0">
              <a:buSzPts val="891"/>
            </a:pPr>
            <a:endParaRPr lang="en-CA" b="1" u="sng" dirty="0">
              <a:solidFill>
                <a:schemeClr val="tx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lvl="0">
              <a:buClr>
                <a:schemeClr val="tx1"/>
              </a:buClr>
              <a:buSzPct val="100000"/>
            </a:pPr>
            <a:r>
              <a:rPr lang="en-CA" b="1" dirty="0">
                <a:solidFill>
                  <a:schemeClr val="tx1"/>
                </a:solidFill>
              </a:rPr>
              <a:t>Reproducibility: </a:t>
            </a:r>
            <a:r>
              <a:rPr lang="en-CA" dirty="0">
                <a:solidFill>
                  <a:schemeClr val="tx1"/>
                </a:solidFill>
              </a:rPr>
              <a:t>We can reproduce the previous result with confidence. </a:t>
            </a:r>
          </a:p>
          <a:p>
            <a:pPr>
              <a:buClr>
                <a:schemeClr val="tx1"/>
              </a:buClr>
              <a:buSzPct val="100000"/>
            </a:pPr>
            <a:endParaRPr lang="en-CA" dirty="0">
              <a:solidFill>
                <a:schemeClr val="tx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CA" dirty="0">
                <a:solidFill>
                  <a:schemeClr val="tx1"/>
                </a:solidFill>
                <a:latin typeface="Google Sans"/>
                <a:ea typeface="Google Sans"/>
                <a:cs typeface="Google Sans"/>
                <a:sym typeface="Google Sans"/>
              </a:rPr>
              <a:t>Testing: </a:t>
            </a:r>
            <a:r>
              <a:rPr lang="en-CA" dirty="0">
                <a:solidFill>
                  <a:schemeClr val="tx1"/>
                </a:solidFill>
              </a:rPr>
              <a:t>We can explain whether a code change caused an output change. </a:t>
            </a:r>
          </a:p>
          <a:p>
            <a:pPr>
              <a:buClr>
                <a:schemeClr val="tx1"/>
              </a:buClr>
              <a:buSzPct val="100000"/>
            </a:pPr>
            <a:endParaRPr lang="en-CA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CA" b="1" dirty="0">
                <a:solidFill>
                  <a:schemeClr val="tx1"/>
                </a:solidFill>
              </a:rPr>
              <a:t>Auditability: </a:t>
            </a:r>
            <a:r>
              <a:rPr lang="en-CA" dirty="0">
                <a:solidFill>
                  <a:schemeClr val="tx1"/>
                </a:solidFill>
              </a:rPr>
              <a:t>We can explain how our model produced a given output.</a:t>
            </a:r>
          </a:p>
          <a:p>
            <a:pPr>
              <a:buClr>
                <a:schemeClr val="tx1"/>
              </a:buClr>
              <a:buSzPct val="100000"/>
            </a:pPr>
            <a:endParaRPr lang="en-CA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CA" b="1" dirty="0">
                <a:solidFill>
                  <a:schemeClr val="tx1"/>
                </a:solidFill>
              </a:rPr>
              <a:t>LLMs: </a:t>
            </a:r>
            <a:r>
              <a:rPr lang="en-CA" dirty="0">
                <a:solidFill>
                  <a:schemeClr val="tx1"/>
                </a:solidFill>
              </a:rPr>
              <a:t>Fundamentally non-deterministic this is a feature not a bug.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A3F8AEFA-9167-1C06-5BC5-21D8F535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332AC89E-DA72-CB7A-983E-9CC0CB09B3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  <a:t>Current extraction pipeline approach </a:t>
            </a: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  <a:t>We can change this maybe to be more simple and </a:t>
            </a:r>
            <a:r>
              <a:rPr lang="en" dirty="0" err="1">
                <a:latin typeface="Google Sans Text"/>
                <a:ea typeface="Google Sans Text"/>
                <a:cs typeface="Google Sans Text"/>
                <a:sym typeface="Google Sans Text"/>
              </a:rPr>
              <a:t>explainatory</a:t>
            </a:r>
            <a: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  <a:t>. </a:t>
            </a:r>
            <a:endParaRPr dirty="0"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39D30235-D8A1-BC73-FF66-FBFEF78BB5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D98DFE-B019-D671-32F5-11741E712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54" y="1762495"/>
            <a:ext cx="2284853" cy="235600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E0B8FE-034F-87D1-D435-E74327547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614" y="1713132"/>
            <a:ext cx="2333782" cy="2405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71BA33-01B3-10ED-6AD2-8D2D761282BF}"/>
              </a:ext>
            </a:extLst>
          </p:cNvPr>
          <p:cNvSpPr txBox="1"/>
          <p:nvPr/>
        </p:nvSpPr>
        <p:spPr>
          <a:xfrm>
            <a:off x="650480" y="1405355"/>
            <a:ext cx="193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Find the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4482A-B51A-7EAF-0CCA-0196FE7AD518}"/>
              </a:ext>
            </a:extLst>
          </p:cNvPr>
          <p:cNvSpPr txBox="1"/>
          <p:nvPr/>
        </p:nvSpPr>
        <p:spPr>
          <a:xfrm>
            <a:off x="2966709" y="1364567"/>
            <a:ext cx="2633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Reconstruct the cell grid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6CA54-7596-986B-FF97-511C8AB9671A}"/>
              </a:ext>
            </a:extLst>
          </p:cNvPr>
          <p:cNvSpPr txBox="1"/>
          <p:nvPr/>
        </p:nvSpPr>
        <p:spPr>
          <a:xfrm>
            <a:off x="5662638" y="1364566"/>
            <a:ext cx="2830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Extract cell content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6BFAA4-5B3B-C5B5-4AA1-2D8003199B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0207" y="1672344"/>
            <a:ext cx="2641330" cy="244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34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A0F6B38A-DFA9-0268-9111-1166B741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C6097BC1-ADA3-6AF8-E11D-EF27ECE42A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  <a:t>The more structure we have the less we have to infer.</a:t>
            </a: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r>
              <a:rPr lang="en" dirty="0">
                <a:solidFill>
                  <a:srgbClr val="FF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Can you add definitions maybe we make a flow chart or something. Let’s focus on non-LLM solutions for now then we can re-visit when bottleneck occur. </a:t>
            </a:r>
            <a:br>
              <a:rPr lang="en" dirty="0">
                <a:latin typeface="Google Sans Text"/>
                <a:ea typeface="Google Sans Text"/>
                <a:cs typeface="Google Sans Text"/>
                <a:sym typeface="Google Sans Text"/>
              </a:rPr>
            </a:br>
            <a:endParaRPr dirty="0">
              <a:solidFill>
                <a:srgbClr val="FF0000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3B52D839-E6F2-28C3-3795-06AE63AC87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aphicFrame>
        <p:nvGraphicFramePr>
          <p:cNvPr id="16" name="Google Shape;154;p22">
            <a:extLst>
              <a:ext uri="{FF2B5EF4-FFF2-40B4-BE49-F238E27FC236}">
                <a16:creationId xmlns:a16="http://schemas.microsoft.com/office/drawing/2014/main" id="{D3933A54-2475-9E78-0FAF-C1F30F6083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7587926"/>
              </p:ext>
            </p:extLst>
          </p:nvPr>
        </p:nvGraphicFramePr>
        <p:xfrm>
          <a:off x="635784" y="1285545"/>
          <a:ext cx="7239000" cy="2510860"/>
        </p:xfrm>
        <a:graphic>
          <a:graphicData uri="http://schemas.openxmlformats.org/drawingml/2006/table">
            <a:tbl>
              <a:tblPr>
                <a:noFill/>
                <a:tableStyleId>{C0F588D1-301F-48EF-B88C-3041E33B7432}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424832026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398212503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sng" dirty="0">
                          <a:solidFill>
                            <a:schemeClr val="dk1"/>
                          </a:solidFill>
                        </a:rPr>
                        <a:t>What do we need? </a:t>
                      </a:r>
                      <a:endParaRPr sz="1200" b="1" i="0" u="sng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sng" dirty="0">
                          <a:solidFill>
                            <a:schemeClr val="dk1"/>
                          </a:solidFill>
                        </a:rPr>
                        <a:t>Available information</a:t>
                      </a:r>
                      <a:endParaRPr sz="1200" b="1" i="0" u="sng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sz="1200" b="1" i="0" u="sng" dirty="0">
                          <a:solidFill>
                            <a:schemeClr val="dk1"/>
                          </a:solidFill>
                        </a:rPr>
                        <a:t>Approach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sz="1200" b="1" i="0" u="sng" dirty="0">
                          <a:solidFill>
                            <a:schemeClr val="dk1"/>
                          </a:solidFill>
                        </a:rPr>
                        <a:t>Accuracy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18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i="0" dirty="0">
                          <a:solidFill>
                            <a:schemeClr val="dk1"/>
                          </a:solidFill>
                        </a:rPr>
                        <a:t>Text Content</a:t>
                      </a:r>
                      <a:endParaRPr sz="1200" i="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0" dirty="0">
                          <a:solidFill>
                            <a:schemeClr val="dk1"/>
                          </a:solidFill>
                        </a:rPr>
                        <a:t>Embedded text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i="0" dirty="0">
                          <a:solidFill>
                            <a:schemeClr val="dk1"/>
                          </a:solidFill>
                        </a:rPr>
                        <a:t>Direct text extraction</a:t>
                      </a:r>
                      <a:endParaRPr sz="1200" i="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b="1" i="0" dirty="0">
                          <a:solidFill>
                            <a:srgbClr val="33A852"/>
                          </a:solidFill>
                        </a:rPr>
                        <a:t>Very high</a:t>
                      </a:r>
                      <a:endParaRPr sz="1200" b="1" i="0" dirty="0">
                        <a:solidFill>
                          <a:srgbClr val="33A852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sz="1200" i="0" dirty="0">
                          <a:solidFill>
                            <a:schemeClr val="dk1"/>
                          </a:solidFill>
                        </a:rPr>
                        <a:t>Text Content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0" dirty="0">
                          <a:solidFill>
                            <a:schemeClr val="dk1"/>
                          </a:solidFill>
                        </a:rPr>
                        <a:t>Image / scan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i="0" dirty="0">
                          <a:solidFill>
                            <a:schemeClr val="dk1"/>
                          </a:solidFill>
                        </a:rPr>
                        <a:t>OCR</a:t>
                      </a:r>
                      <a:endParaRPr sz="1200" i="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b="1" i="0" dirty="0">
                          <a:solidFill>
                            <a:srgbClr val="FF9900"/>
                          </a:solidFill>
                        </a:rPr>
                        <a:t>Medium</a:t>
                      </a:r>
                      <a:endParaRPr sz="1200" b="1" i="0" dirty="0">
                        <a:solidFill>
                          <a:srgbClr val="FF9900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568759338"/>
                  </a:ext>
                </a:extLst>
              </a:tr>
              <a:tr h="3070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CA" sz="1200" i="0" dirty="0">
                          <a:solidFill>
                            <a:schemeClr val="dk1"/>
                          </a:solidFill>
                        </a:rPr>
                        <a:t>Table Structure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0" dirty="0">
                          <a:solidFill>
                            <a:schemeClr val="dk1"/>
                          </a:solidFill>
                        </a:rPr>
                        <a:t>Semantic tags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i="0" dirty="0">
                          <a:solidFill>
                            <a:schemeClr val="dk1"/>
                          </a:solidFill>
                        </a:rPr>
                        <a:t>Use tags directly</a:t>
                      </a:r>
                      <a:endParaRPr sz="1200" i="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b="1" i="0" dirty="0">
                          <a:solidFill>
                            <a:srgbClr val="33A852"/>
                          </a:solidFill>
                        </a:rPr>
                        <a:t>Very high</a:t>
                      </a:r>
                      <a:endParaRPr sz="1200" b="1" i="0" dirty="0">
                        <a:solidFill>
                          <a:srgbClr val="33A852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3298816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i="0" dirty="0">
                          <a:solidFill>
                            <a:schemeClr val="dk1"/>
                          </a:solidFill>
                        </a:rPr>
                        <a:t>Table Structure</a:t>
                      </a:r>
                      <a:endParaRPr sz="1200" i="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i="0" dirty="0">
                          <a:solidFill>
                            <a:schemeClr val="dk1"/>
                          </a:solidFill>
                        </a:rPr>
                        <a:t>Vector lines</a:t>
                      </a:r>
                      <a:endParaRPr sz="1200" i="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i="0" dirty="0">
                          <a:solidFill>
                            <a:schemeClr val="dk1"/>
                          </a:solidFill>
                        </a:rPr>
                        <a:t>Reconstruct geometry exactly </a:t>
                      </a:r>
                      <a:endParaRPr sz="1200" i="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b="1" i="0" dirty="0">
                          <a:solidFill>
                            <a:srgbClr val="33A852"/>
                          </a:solidFill>
                        </a:rPr>
                        <a:t>Very high</a:t>
                      </a:r>
                      <a:endParaRPr sz="1200" b="1" i="0" dirty="0">
                        <a:solidFill>
                          <a:srgbClr val="33A852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0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i="0" dirty="0">
                          <a:solidFill>
                            <a:schemeClr val="dk1"/>
                          </a:solidFill>
                        </a:rPr>
                        <a:t>Table Structure</a:t>
                      </a:r>
                      <a:endParaRPr sz="1200" i="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i="0" dirty="0">
                          <a:solidFill>
                            <a:schemeClr val="dk1"/>
                          </a:solidFill>
                        </a:rPr>
                        <a:t>Neither</a:t>
                      </a:r>
                      <a:endParaRPr sz="1200" i="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i="0" dirty="0">
                          <a:solidFill>
                            <a:schemeClr val="dk1"/>
                          </a:solidFill>
                        </a:rPr>
                        <a:t>Table Transformer</a:t>
                      </a:r>
                      <a:endParaRPr sz="1200" i="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200" b="1" i="0" dirty="0">
                          <a:solidFill>
                            <a:srgbClr val="FF9900"/>
                          </a:solidFill>
                        </a:rPr>
                        <a:t>Medium</a:t>
                      </a:r>
                      <a:endParaRPr sz="1200" b="1" i="0" dirty="0">
                        <a:solidFill>
                          <a:srgbClr val="FF9900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2262761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150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F3E7F-0B84-F083-D3D9-9D114FABE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462188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We can do a live demo after this slide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28CDB-316A-6039-ABA4-2E9B37E13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1283568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388</Words>
  <Application>Microsoft Macintosh PowerPoint</Application>
  <PresentationFormat>On-screen Show (16:9)</PresentationFormat>
  <Paragraphs>111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Google Sans Text</vt:lpstr>
      <vt:lpstr>Arial</vt:lpstr>
      <vt:lpstr>Simple Dark</vt:lpstr>
      <vt:lpstr>Table Extraction Proof of Concept</vt:lpstr>
      <vt:lpstr>Source Documents IE. PDF, Excel</vt:lpstr>
      <vt:lpstr>Source Documents IE. PDF, Excel</vt:lpstr>
      <vt:lpstr>What makes extraction hard?</vt:lpstr>
      <vt:lpstr>Intuition 2.   A reliable data pipeline must be deterministic: same input = same output</vt:lpstr>
      <vt:lpstr>Current extraction pipeline approach            We can change this maybe to be more simple and explainatory. </vt:lpstr>
      <vt:lpstr>The more structure we have the less we have to infer.         Can you add definitions maybe we make a flow chart or something. Let’s focus on non-LLM solutions for now then we can re-visit when bottleneck occur.  </vt:lpstr>
      <vt:lpstr>We can do a live demo after this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Hull</cp:lastModifiedBy>
  <cp:revision>9</cp:revision>
  <dcterms:modified xsi:type="dcterms:W3CDTF">2026-08-17T16:25:08Z</dcterms:modified>
</cp:coreProperties>
</file>